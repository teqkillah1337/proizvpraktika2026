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C1733-F8A7-6E32-7A9D-6F59D1138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7F8BE4-F0D7-D773-E73E-EA6D6BEC3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2784C3-DDE2-A936-7446-45B2A6E2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E62BD8-297A-0DC3-E9EA-DF4B59D2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14C3D1-A86E-B1E3-A343-3C6A9D28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497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48AF9-72FD-9B01-C779-2F9B8A44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FEA2C1-7982-2BD8-C1A7-1FA82E54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E05CC1-3CA6-569E-93E2-C2B98CA7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AF629-8A89-458B-5387-7B3AE36C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A9CA3C-365A-BB31-05EE-7B1E0D7F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45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F79BF-BE37-A1DC-68DA-D3670734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8AFD13-631A-C055-EBB4-E9AD059B3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B366D6-A4FD-2C8A-262E-C06F29F7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8282E-EE51-970F-6768-8DF32F19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D0DCC3-7A4D-DCB4-C662-8C31B563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03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E5FD5-96C0-4AF7-5833-B7293D96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E7831A-C710-252B-A83D-8D436169E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45428FE-603D-AE5B-5E37-BA0B03384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0898BF-1FCE-E94D-2791-F7178CD3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386E9E-9D16-3437-54AF-FA9CF0E22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A7F80E-0EEE-920F-D8DD-FBAB6B05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37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858394-21D9-663A-8688-18B569F7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62D4FC-F850-A98F-F641-166FDE83C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57E95E-EF19-2538-EF73-5FC919C69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7BA920-88E8-9029-B6A8-7F6603832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E38EB06-21C6-0CDA-8506-4F92580AD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C6088E-FBA4-CD5D-1E56-46653D18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B6BCC47-EE32-7E8A-5FD3-27E40AB4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87A19B-14E4-E24C-09B7-62827D1A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82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5D70E-CD8B-39CE-A1B2-7B41153B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88683B-AFE9-C57D-EB5B-7A5033A9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141A981-5BAA-0754-C094-69450607E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B7900C-3737-9CA0-E162-BD20D878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144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6BB6BDC-BF2D-545B-A295-BEB88266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8D7FA8-73D6-33F6-BAFC-DA754E80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AF7CE3-C525-B7EE-A7AF-F88309D0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71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D1EE9-578F-BBCD-7883-F21047F50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9D949-85A5-DC1E-C74D-F4B01386B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8083B5-F5C1-BF6B-1341-70DD5A10A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D1A6C0-0583-1141-7CD4-C6C98F0B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7D4886-07B3-4E80-C9C2-4121AD2C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49AA14-3A52-1DC7-C6E5-A459359F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99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922CD-0C79-5B3E-46DB-B86EF110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6EF597-8764-F9EE-06E6-432C4EB81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F2F993-7391-2111-132B-1026FF6AC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4DEA19-223C-E831-90E7-B2D3E825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BE031B-1F91-E367-4EAB-7A653058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8DD237-0BC7-94EB-E9E0-2DE41706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790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48BB7-DC20-331B-3969-A38D5D6A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458E3B-53D3-82F1-60AA-FD1450B73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37B6A6-8E13-3E8D-2929-D8B1DAF9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018D78-3DB4-E672-C258-F6694FD2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F6BF1-F34A-1F49-B4C1-23720698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214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8360C90-7D6E-5D8A-0B7D-86A34D658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3A770F-48AB-0881-0D0B-384A946F7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13CD03-3C2D-FAD0-093E-8FACEBB1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947BDA-3B54-BA1F-5FC6-81599D66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FE8252-86C2-DA79-6253-62092A5F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339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4AAD9-B53C-237B-B760-7A8CCD587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19960B-C1A7-E115-3B54-E26A229A6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9E670A-2FAC-62EF-6464-C2735C6EB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059D2-7155-4631-BF84-FEDBDBF83E8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84F5CB-4517-9EAA-6AB8-8FFE9D690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81279C-A1D2-6007-2B4D-B1866F5BE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982E2-BA62-442C-89D4-59FF0E0B2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3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C5604-36F9-2485-FC51-29FE577B00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ПМ.11. Разработка модулей программного обеспечения для компьютерных систем</a:t>
            </a:r>
            <a:br>
              <a:rPr lang="ru-RU" sz="3600" dirty="0"/>
            </a:br>
            <a:r>
              <a:rPr lang="ru-RU" sz="3600" b="1" dirty="0"/>
              <a:t>Тема: «Разработка программного комплекса "Электронная приёмная администрации"»</a:t>
            </a: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8AAA21-FFA4-15CB-EF2F-35F5A08E6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536" y="4854766"/>
            <a:ext cx="4014216" cy="1372298"/>
          </a:xfrm>
        </p:spPr>
        <p:txBody>
          <a:bodyPr/>
          <a:lstStyle/>
          <a:p>
            <a:r>
              <a:rPr lang="ru-RU" b="1" dirty="0"/>
              <a:t>Студент:</a:t>
            </a:r>
            <a:r>
              <a:rPr lang="ru-RU" dirty="0"/>
              <a:t> Беляев Данил Игоревич</a:t>
            </a:r>
          </a:p>
          <a:p>
            <a:r>
              <a:rPr lang="ru-RU" b="1" dirty="0"/>
              <a:t>Группа:</a:t>
            </a:r>
            <a:r>
              <a:rPr lang="ru-RU" dirty="0"/>
              <a:t> 22П-1</a:t>
            </a:r>
          </a:p>
        </p:txBody>
      </p:sp>
    </p:spTree>
    <p:extLst>
      <p:ext uri="{BB962C8B-B14F-4D97-AF65-F5344CB8AC3E}">
        <p14:creationId xmlns:p14="http://schemas.microsoft.com/office/powerpoint/2010/main" val="296688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18E2F-0870-60E7-1BE6-B7404D30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Сведения об организации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9521D7-78A5-EB23-641F-E565BF67D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Производственная практика проходила в Администрации города Слободского.</a:t>
            </a:r>
          </a:p>
          <a:p>
            <a:pPr marL="0" indent="0">
              <a:buNone/>
            </a:pPr>
            <a:r>
              <a:rPr lang="ru-RU" dirty="0"/>
              <a:t>Основной деятельностью организации является работа с обращениями граждан. Автоматизация процесса приёма и учёта заявок направлена на:</a:t>
            </a:r>
          </a:p>
          <a:p>
            <a:r>
              <a:rPr lang="ru-RU" dirty="0"/>
              <a:t>Снижение временных затрат сотрудников</a:t>
            </a:r>
          </a:p>
          <a:p>
            <a:r>
              <a:rPr lang="ru-RU" dirty="0"/>
              <a:t>Ускорение обработки обращений</a:t>
            </a:r>
          </a:p>
          <a:p>
            <a:r>
              <a:rPr lang="ru-RU" dirty="0"/>
              <a:t>Минимизацию ошибок при работе с заявками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662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DC04E-2564-8D5B-D9A4-11FF905D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Разработка и анализ технического задания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5E0AA0-3E42-2439-3094-1FE5DB9ED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ходе практики было разработано техническое задание на создание программного комплекса </a:t>
            </a:r>
            <a:r>
              <a:rPr lang="ru-RU" b="1" dirty="0"/>
              <a:t>«Электронная приёмная администрации»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Назначение системы:</a:t>
            </a:r>
            <a:br>
              <a:rPr lang="ru-RU" dirty="0"/>
            </a:br>
            <a:r>
              <a:rPr lang="ru-RU" dirty="0"/>
              <a:t>Автоматизация учёта обращений граждан: сбор заявок и их хранение  в облачной базе данных.</a:t>
            </a:r>
          </a:p>
          <a:p>
            <a:r>
              <a:rPr lang="ru-RU" b="1" dirty="0"/>
              <a:t>Состав системы:</a:t>
            </a:r>
            <a:endParaRPr lang="ru-RU" dirty="0"/>
          </a:p>
          <a:p>
            <a:r>
              <a:rPr lang="ru-RU" dirty="0"/>
              <a:t>Desktop-приложение (WPF) </a:t>
            </a:r>
          </a:p>
          <a:p>
            <a:r>
              <a:rPr lang="ru-RU" dirty="0"/>
              <a:t>Mobile-приложение (.NET MAUI)</a:t>
            </a:r>
          </a:p>
        </p:txBody>
      </p:sp>
    </p:spTree>
    <p:extLst>
      <p:ext uri="{BB962C8B-B14F-4D97-AF65-F5344CB8AC3E}">
        <p14:creationId xmlns:p14="http://schemas.microsoft.com/office/powerpoint/2010/main" val="218299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19212-DD0B-90D4-FA9F-A454BC48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Проектирование базы данных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3BF59-DB2E-4A65-D3DB-0BF521B07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База данных реализована на </a:t>
            </a:r>
            <a:r>
              <a:rPr lang="ru-RU" sz="2000" b="1" dirty="0" err="1"/>
              <a:t>PostgreSQL</a:t>
            </a:r>
            <a:r>
              <a:rPr lang="ru-RU" sz="2000" dirty="0"/>
              <a:t> с использованием </a:t>
            </a:r>
            <a:r>
              <a:rPr lang="ru-RU" sz="2000" b="1" dirty="0" err="1"/>
              <a:t>Supabase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b="1" dirty="0"/>
              <a:t>Основные таблицы:</a:t>
            </a:r>
            <a:endParaRPr lang="ru-RU" sz="2000" dirty="0"/>
          </a:p>
          <a:p>
            <a:r>
              <a:rPr lang="ru-RU" sz="2000" dirty="0" err="1"/>
              <a:t>mobile_requests</a:t>
            </a:r>
            <a:r>
              <a:rPr lang="ru-RU" sz="2000" dirty="0"/>
              <a:t> — заявки (номер, ФИО, телефон, категория, описание, статус, дата, </a:t>
            </a:r>
            <a:r>
              <a:rPr lang="ru-RU" sz="2000" dirty="0" err="1"/>
              <a:t>user_id</a:t>
            </a:r>
            <a:r>
              <a:rPr lang="ru-RU" sz="2000" dirty="0"/>
              <a:t>)</a:t>
            </a:r>
          </a:p>
          <a:p>
            <a:r>
              <a:rPr lang="ru-RU" sz="2000" dirty="0" err="1"/>
              <a:t>app_users</a:t>
            </a:r>
            <a:r>
              <a:rPr lang="ru-RU" sz="2000" dirty="0"/>
              <a:t> — пользователи (привязка к </a:t>
            </a:r>
            <a:r>
              <a:rPr lang="ru-RU" sz="2000" dirty="0" err="1"/>
              <a:t>Supabase</a:t>
            </a:r>
            <a:r>
              <a:rPr lang="ru-RU" sz="2000" dirty="0"/>
              <a:t> </a:t>
            </a:r>
            <a:r>
              <a:rPr lang="ru-RU" sz="2000" dirty="0" err="1"/>
              <a:t>Auth</a:t>
            </a:r>
            <a:r>
              <a:rPr lang="ru-RU" sz="2000" dirty="0"/>
              <a:t>, роль)</a:t>
            </a:r>
          </a:p>
          <a:p>
            <a:pPr marL="0" indent="0">
              <a:buNone/>
            </a:pPr>
            <a:r>
              <a:rPr lang="ru-RU" sz="2000" dirty="0"/>
              <a:t>Данные синхронизируются между мобильным и десктоп приложениями через облачное хранилище.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579F97-7D63-20B4-8F8D-F486FA5E3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080" y="1540955"/>
            <a:ext cx="4336910" cy="46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6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7C976-C7EE-4F22-3E53-C0B49BBC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Разработка </a:t>
            </a:r>
            <a:r>
              <a:rPr lang="en-US" b="1" dirty="0"/>
              <a:t>Desktop-</a:t>
            </a:r>
            <a:r>
              <a:rPr lang="ru-RU" b="1" dirty="0"/>
              <a:t>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C66A1B-2A04-CB8B-6EF2-A16C15E08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6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Для разработки Desktop-приложения использовалась технологическая платформа </a:t>
            </a:r>
            <a:r>
              <a:rPr lang="ru-RU" sz="2400" b="1" dirty="0"/>
              <a:t>.NET 8</a:t>
            </a:r>
            <a:r>
              <a:rPr lang="ru-RU" sz="2400" dirty="0"/>
              <a:t> и язык программирования </a:t>
            </a:r>
            <a:r>
              <a:rPr lang="ru-RU" sz="2400" b="1" dirty="0"/>
              <a:t>C#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dirty="0"/>
              <a:t>В качестве технологии построения пользовательского интерфейса выбрана </a:t>
            </a:r>
            <a:r>
              <a:rPr lang="ru-RU" sz="2400" b="1" dirty="0"/>
              <a:t>Windows </a:t>
            </a:r>
            <a:r>
              <a:rPr lang="ru-RU" sz="2400" b="1" dirty="0" err="1"/>
              <a:t>Presentation</a:t>
            </a:r>
            <a:r>
              <a:rPr lang="ru-RU" sz="2400" b="1" dirty="0"/>
              <a:t> Foundation (WPF)</a:t>
            </a:r>
            <a:r>
              <a:rPr lang="ru-RU" sz="2400" dirty="0"/>
              <a:t>, что позволило реализовать гибкий и современный дизайн форм с использованием языка разметки XAML.</a:t>
            </a:r>
          </a:p>
          <a:p>
            <a:pPr marL="0" indent="0">
              <a:buNone/>
            </a:pPr>
            <a:r>
              <a:rPr lang="ru-RU" sz="2400" dirty="0"/>
              <a:t>Взаимодействие с базой данных организовано через </a:t>
            </a:r>
            <a:r>
              <a:rPr lang="ru-RU" sz="2400" b="1" dirty="0" err="1"/>
              <a:t>Supabase</a:t>
            </a:r>
            <a:r>
              <a:rPr lang="ru-RU" sz="2400" b="1" dirty="0"/>
              <a:t> REST API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384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BAEE0-5939-0776-CC3F-0E22C7A6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Разработка </a:t>
            </a:r>
            <a:r>
              <a:rPr lang="en-US" b="1" dirty="0"/>
              <a:t>Desktop-</a:t>
            </a:r>
            <a:r>
              <a:rPr lang="ru-RU" b="1" dirty="0"/>
              <a:t>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627DED-1F60-046B-C306-D590CBB1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/>
              <a:t>Основные модули:</a:t>
            </a:r>
            <a:endParaRPr lang="ru-RU" sz="2000" dirty="0"/>
          </a:p>
          <a:p>
            <a:r>
              <a:rPr lang="ru-RU" sz="2000" b="1" dirty="0"/>
              <a:t>Авторизация</a:t>
            </a:r>
            <a:r>
              <a:rPr lang="ru-RU" sz="2000" dirty="0"/>
              <a:t> — регистрация и вход через </a:t>
            </a:r>
            <a:r>
              <a:rPr lang="ru-RU" sz="2000" dirty="0" err="1"/>
              <a:t>Supabase</a:t>
            </a:r>
            <a:r>
              <a:rPr lang="ru-RU" sz="2000" dirty="0"/>
              <a:t> </a:t>
            </a:r>
            <a:r>
              <a:rPr lang="ru-RU" sz="2000" dirty="0" err="1"/>
              <a:t>Auth</a:t>
            </a:r>
            <a:endParaRPr lang="ru-RU" sz="2000" dirty="0"/>
          </a:p>
          <a:p>
            <a:r>
              <a:rPr lang="ru-RU" sz="2000" b="1" dirty="0"/>
              <a:t>Мои заявки</a:t>
            </a:r>
            <a:r>
              <a:rPr lang="ru-RU" sz="2000" dirty="0"/>
              <a:t> — просмотр списка созданных заявок</a:t>
            </a:r>
          </a:p>
          <a:p>
            <a:r>
              <a:rPr lang="ru-RU" sz="2000" b="1" dirty="0"/>
              <a:t>Создание заявки</a:t>
            </a:r>
            <a:r>
              <a:rPr lang="ru-RU" sz="2000" dirty="0"/>
              <a:t> — форма для подачи нового обращения (ФИО, телефон, категория, описание)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C1E222-893E-7A3B-2B5B-81D353841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67" y="4210056"/>
            <a:ext cx="3303584" cy="22243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777649-EC29-009E-5E54-A7299FD0F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41" y="3962068"/>
            <a:ext cx="3741317" cy="23012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DCDFC7C-EC90-7E5A-7228-85D2ADD09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055" y="3791041"/>
            <a:ext cx="2467828" cy="26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6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D1566-D126-12DC-1F41-EC3B9444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Разработка мобильного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921EBD-03F5-EBF9-6AA8-7CC159F34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Мобильное приложение разработано с использованием кросс-платформенной технологии </a:t>
            </a:r>
            <a:r>
              <a:rPr lang="ru-RU" sz="2000" b="1" dirty="0"/>
              <a:t>.NET MAUI</a:t>
            </a:r>
            <a:r>
              <a:rPr lang="ru-RU" sz="2000" dirty="0"/>
              <a:t> на языке C#.</a:t>
            </a:r>
          </a:p>
          <a:p>
            <a:r>
              <a:rPr lang="ru-RU" sz="2000" dirty="0"/>
              <a:t>Данная технология позволяет создавать нативные приложения для </a:t>
            </a:r>
            <a:r>
              <a:rPr lang="ru-RU" sz="2000" b="1" dirty="0" err="1"/>
              <a:t>Android</a:t>
            </a:r>
            <a:r>
              <a:rPr lang="ru-RU" sz="2000" dirty="0"/>
              <a:t> и </a:t>
            </a:r>
            <a:r>
              <a:rPr lang="ru-RU" sz="2000" b="1" dirty="0"/>
              <a:t>Windows</a:t>
            </a:r>
            <a:r>
              <a:rPr lang="ru-RU" sz="2000" dirty="0"/>
              <a:t> из единой кодовой базы.</a:t>
            </a:r>
          </a:p>
        </p:txBody>
      </p:sp>
    </p:spTree>
    <p:extLst>
      <p:ext uri="{BB962C8B-B14F-4D97-AF65-F5344CB8AC3E}">
        <p14:creationId xmlns:p14="http://schemas.microsoft.com/office/powerpoint/2010/main" val="267533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68117-548A-65F0-092D-9DF3FD6A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Разработка мобильного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878614-CAEE-A8B2-7B89-1C601C2C9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Основные модули:</a:t>
            </a:r>
            <a:endParaRPr lang="ru-RU" sz="2000" dirty="0"/>
          </a:p>
          <a:p>
            <a:r>
              <a:rPr lang="ru-RU" sz="2000" b="1" dirty="0"/>
              <a:t>Авторизация</a:t>
            </a:r>
            <a:r>
              <a:rPr lang="ru-RU" sz="2000" dirty="0"/>
              <a:t> — вход через </a:t>
            </a:r>
            <a:r>
              <a:rPr lang="ru-RU" sz="2000" dirty="0" err="1"/>
              <a:t>Supabase</a:t>
            </a:r>
            <a:r>
              <a:rPr lang="ru-RU" sz="2000" dirty="0"/>
              <a:t> </a:t>
            </a:r>
            <a:r>
              <a:rPr lang="ru-RU" sz="2000" dirty="0" err="1"/>
              <a:t>Auth</a:t>
            </a:r>
            <a:endParaRPr lang="ru-RU" sz="2000" dirty="0"/>
          </a:p>
          <a:p>
            <a:r>
              <a:rPr lang="ru-RU" sz="2000" b="1" dirty="0"/>
              <a:t>Создание заявки</a:t>
            </a:r>
            <a:r>
              <a:rPr lang="ru-RU" sz="2000" dirty="0"/>
              <a:t> — подача обращения с мобильного устройства</a:t>
            </a:r>
          </a:p>
          <a:p>
            <a:r>
              <a:rPr lang="ru-RU" sz="2000" b="1" dirty="0"/>
              <a:t>Мои заявки</a:t>
            </a:r>
            <a:r>
              <a:rPr lang="ru-RU" sz="2000" dirty="0"/>
              <a:t> — просмотр поданных заявок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74DB67-7BF9-4DCF-C32D-E65EB3F51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945" y="3493008"/>
            <a:ext cx="2067288" cy="32735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B8FD45-2636-5962-26C9-C7C9FF231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696" y="3479354"/>
            <a:ext cx="2067289" cy="330085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541A9C4-FC25-B482-D6C9-E49907AC9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704" y="3418834"/>
            <a:ext cx="3101096" cy="342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49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572A0-AE30-6A7D-59DB-6253FC5E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Рефакторинг и оптимизация кода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06605-DD24-DBD5-A35F-F6BA734E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Выполненные работы:</a:t>
            </a:r>
          </a:p>
          <a:p>
            <a:r>
              <a:rPr lang="ru-RU" dirty="0"/>
              <a:t>Выделение общих методов в отдельные классы (</a:t>
            </a:r>
            <a:r>
              <a:rPr lang="ru-RU" dirty="0" err="1"/>
              <a:t>SupabaseService</a:t>
            </a:r>
            <a:r>
              <a:rPr lang="ru-RU" dirty="0"/>
              <a:t>, </a:t>
            </a:r>
            <a:r>
              <a:rPr lang="ru-RU" dirty="0" err="1"/>
              <a:t>SupabaseAuth</a:t>
            </a:r>
            <a:r>
              <a:rPr lang="ru-RU" dirty="0"/>
              <a:t>)</a:t>
            </a:r>
          </a:p>
          <a:p>
            <a:r>
              <a:rPr lang="ru-RU" dirty="0"/>
              <a:t>Создание отдельной библиотеки классов SupabaseAuthLib.dll для авторизации</a:t>
            </a:r>
          </a:p>
          <a:p>
            <a:r>
              <a:rPr lang="ru-RU" dirty="0"/>
              <a:t>Оптимизация запросов к </a:t>
            </a:r>
            <a:r>
              <a:rPr lang="ru-RU" dirty="0" err="1"/>
              <a:t>Supabase</a:t>
            </a:r>
            <a:endParaRPr lang="ru-RU" dirty="0"/>
          </a:p>
          <a:p>
            <a:r>
              <a:rPr lang="ru-RU" dirty="0"/>
              <a:t>Устранение дублирования кода</a:t>
            </a:r>
          </a:p>
          <a:p>
            <a:r>
              <a:rPr lang="ru-RU" dirty="0"/>
              <a:t>Добавление асинхронных методов для улучшения отзывчивости UI</a:t>
            </a:r>
          </a:p>
          <a:p>
            <a:pPr marL="0" indent="0">
              <a:buNone/>
            </a:pPr>
            <a:r>
              <a:rPr lang="ru-RU" b="1" dirty="0"/>
              <a:t>Результат:</a:t>
            </a:r>
            <a:r>
              <a:rPr lang="ru-RU" dirty="0"/>
              <a:t> код стал чище, </a:t>
            </a:r>
            <a:r>
              <a:rPr lang="ru-RU" dirty="0" err="1"/>
              <a:t>поддерживаемее</a:t>
            </a:r>
            <a:r>
              <a:rPr lang="ru-RU" dirty="0"/>
              <a:t>, проще для добавления новых функций.</a:t>
            </a:r>
          </a:p>
        </p:txBody>
      </p:sp>
    </p:spTree>
    <p:extLst>
      <p:ext uri="{BB962C8B-B14F-4D97-AF65-F5344CB8AC3E}">
        <p14:creationId xmlns:p14="http://schemas.microsoft.com/office/powerpoint/2010/main" val="1768233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9BECD-8F8D-24B4-5BEA-AC563B4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Тестирование программных модулей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D9532B-ACCE-D5D8-EDCE-17938E5B0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Desktop-приложение:</a:t>
            </a:r>
            <a:endParaRPr lang="ru-RU" dirty="0"/>
          </a:p>
          <a:p>
            <a:r>
              <a:rPr lang="ru-RU" dirty="0"/>
              <a:t>Модульные тесты (</a:t>
            </a:r>
            <a:r>
              <a:rPr lang="ru-RU" dirty="0" err="1"/>
              <a:t>MSTest</a:t>
            </a:r>
            <a:r>
              <a:rPr lang="ru-RU" dirty="0"/>
              <a:t>) для проверки авторизации и работы с заявками</a:t>
            </a:r>
          </a:p>
          <a:p>
            <a:r>
              <a:rPr lang="ru-RU" dirty="0"/>
              <a:t>Тестирование валидации данных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BB9168-F43C-4AD8-F857-A31FADB9C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80" y="3668290"/>
            <a:ext cx="6295480" cy="318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6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C22B3-3C97-5490-B342-39566F74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Тестирование программных модулей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0B1A9F-2D8D-7304-621E-9C3D31DA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Мобильное приложение:</a:t>
            </a:r>
            <a:endParaRPr lang="ru-RU" dirty="0"/>
          </a:p>
          <a:p>
            <a:r>
              <a:rPr lang="ru-RU" dirty="0"/>
              <a:t>Составлены тест-кейсы (5 сценариев)</a:t>
            </a:r>
          </a:p>
          <a:p>
            <a:r>
              <a:rPr lang="ru-RU" dirty="0"/>
              <a:t>Проверены: регистрация, вход, создание заявки, просмотр списка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6C0D1F-9C0C-B3A1-C3F5-6B713DABC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53322"/>
            <a:ext cx="3395505" cy="30406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BF5514-27CF-A9CA-8484-9941AC6FD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4" y="3732602"/>
            <a:ext cx="3698273" cy="304066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D5F349-227A-4868-0B17-42F638D9F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616" y="3753322"/>
            <a:ext cx="3868233" cy="304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56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653BD-3D0D-5DE3-27B9-1EFE7D44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17D33C-0413-1CB1-1832-0AC536A0C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80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436</Words>
  <Application>Microsoft Office PowerPoint</Application>
  <PresentationFormat>Широкоэкранный</PresentationFormat>
  <Paragraphs>54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ПМ.11. Разработка модулей программного обеспечения для компьютерных систем Тема: «Разработка программного комплекса "Электронная приёмная администрации"»</vt:lpstr>
      <vt:lpstr>Сведения об организации</vt:lpstr>
      <vt:lpstr>Разработка и анализ технического задания</vt:lpstr>
      <vt:lpstr>Проектирование базы данных</vt:lpstr>
      <vt:lpstr>Разработка Desktop-приложения</vt:lpstr>
      <vt:lpstr>Разработка Desktop-приложения</vt:lpstr>
      <vt:lpstr>Разработка мобильного приложения</vt:lpstr>
      <vt:lpstr>Разработка мобильного приложения</vt:lpstr>
      <vt:lpstr>Рефакторинг и оптимизация кода</vt:lpstr>
      <vt:lpstr>Тестирование программных модулей</vt:lpstr>
      <vt:lpstr>Тестирование программных модулей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 Belyaev</dc:creator>
  <cp:lastModifiedBy>Danil Belyaev</cp:lastModifiedBy>
  <cp:revision>1</cp:revision>
  <dcterms:created xsi:type="dcterms:W3CDTF">2026-04-21T06:16:37Z</dcterms:created>
  <dcterms:modified xsi:type="dcterms:W3CDTF">2026-04-21T06:42:53Z</dcterms:modified>
</cp:coreProperties>
</file>